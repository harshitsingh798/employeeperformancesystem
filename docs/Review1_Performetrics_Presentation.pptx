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097280" cy="50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ACC"/>
                </a:solidFill>
                <a:latin typeface="Calibri"/>
              </a:defRPr>
            </a:pPr>
            <a:r>
              <a:t>GUVI HCL Hackathon  •  Problem #18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Performetrics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ACC"/>
                </a:solidFill>
                <a:latin typeface="Calibri"/>
              </a:defRPr>
            </a:pPr>
            <a:r>
              <a:t>Employee Performance Evaluation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DC8"/>
                </a:solidFill>
                <a:latin typeface="Calibri"/>
              </a:defRPr>
            </a:pPr>
            <a:r>
              <a:t>Evaluate  •  Empower  •  Evolve  —  Core Java  •  Swing  •  JDBC  • 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325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62FF"/>
                </a:solidFill>
                <a:latin typeface="Calibri"/>
              </a:defRPr>
            </a:pPr>
            <a:r>
              <a:t>REVIEW 1  •  OCT 10,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57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A6C7D"/>
                </a:solidFill>
                <a:latin typeface="Calibri"/>
              </a:defRPr>
            </a:pPr>
            <a:r>
              <a:t>•  Harshit Singh  —  Team Lead &amp; Developer</a:t>
            </a:r>
          </a:p>
          <a:p>
            <a:pPr>
              <a:spcAft>
                <a:spcPts val="400"/>
              </a:spcAft>
              <a:defRPr sz="1000">
                <a:solidFill>
                  <a:srgbClr val="5A6C7D"/>
                </a:solidFill>
                <a:latin typeface="Calibri"/>
              </a:defRPr>
            </a:pPr>
            <a:r>
              <a:t>•  Abhishek  —  Developer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017520"/>
            <a:ext cx="2926080" cy="12700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C7D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29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1A1A2E"/>
                </a:solidFill>
                <a:latin typeface="Calibri"/>
              </a:defRPr>
            </a:pPr>
            <a:r>
              <a:t>Java 17  •  Swing (FlatLaf)  •  MySQL 8.4  •  JDBC</a:t>
            </a:r>
          </a:p>
          <a:p>
            <a:pPr>
              <a:spcAft>
                <a:spcPts val="300"/>
              </a:spcAft>
              <a:defRPr sz="900">
                <a:solidFill>
                  <a:srgbClr val="1A1A2E"/>
                </a:solidFill>
                <a:latin typeface="Calibri"/>
              </a:defRPr>
            </a:pPr>
            <a:r>
              <a:t>JFreeChart  •  SwingWorker  •  File I/O</a:t>
            </a:r>
          </a:p>
          <a:p>
            <a:pPr>
              <a:spcAft>
                <a:spcPts val="300"/>
              </a:spcAft>
              <a:defRPr sz="900">
                <a:solidFill>
                  <a:srgbClr val="1A1A2E"/>
                </a:solidFill>
                <a:latin typeface="Calibri"/>
              </a:defRPr>
            </a:pPr>
            <a:r>
              <a:t>GitHub  •  MySQL Workbench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E9E"/>
                </a:solidFill>
                <a:latin typeface="Calibri"/>
              </a:defRPr>
            </a:pPr>
            <a:r>
              <a:t>Review focus:  Project Structure  •  Database Design  •  DB Connectivity  •  UI/UX  •  Code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01  —  Problem Understanding &amp; Solution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Calibri"/>
              </a:defRPr>
            </a:pPr>
            <a:r>
              <a:t>Why this system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6692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11480"/>
          </a:xfrm>
          <a:prstGeom prst="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631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✗  Managers struggle — </a:t>
            </a:r>
            <a:r>
              <a:rPr sz="1000">
                <a:solidFill>
                  <a:srgbClr val="5A6C7D"/>
                </a:solidFill>
                <a:latin typeface="Calibri"/>
              </a:rPr>
              <a:t>to evaluate fairly across communication, technical, punctuality &amp; teamwork.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✗  Employees lack — </a:t>
            </a:r>
            <a:r>
              <a:rPr sz="1000">
                <a:solidFill>
                  <a:srgbClr val="5A6C7D"/>
                </a:solidFill>
                <a:latin typeface="Calibri"/>
              </a:rPr>
              <a:t>visibility into feedback history and progress over time.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✗  Goals are scattered — </a:t>
            </a:r>
            <a:r>
              <a:rPr sz="1000">
                <a:solidFill>
                  <a:srgbClr val="5A6C7D"/>
                </a:solidFill>
                <a:latin typeface="Calibri"/>
              </a:rPr>
              <a:t>— no single place to set, track &amp; close personal or assigned goals.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1A1A2E"/>
                </a:solidFill>
                <a:latin typeface="Calibri"/>
              </a:rPr>
              <a:t>✗  Reports are manual — </a:t>
            </a:r>
            <a:r>
              <a:rPr sz="1000">
                <a:solidFill>
                  <a:srgbClr val="5A6C7D"/>
                </a:solidFill>
                <a:latin typeface="Calibri"/>
              </a:rPr>
              <a:t>— no graphical analytics for team or self-assessment.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486400" cy="4754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9ACC"/>
                </a:solidFill>
                <a:latin typeface="Calibri"/>
              </a:defRPr>
            </a:pPr>
            <a:r>
              <a:t>OUR SOLUTION — PERFORMETRICS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✓  Manager evaluates — </a:t>
            </a:r>
            <a:r>
              <a:rPr sz="1000">
                <a:solidFill>
                  <a:srgbClr val="C2CCE8"/>
                </a:solidFill>
                <a:latin typeface="Calibri"/>
              </a:rPr>
              <a:t>with 4-criteria form, auto-weighted score &amp; dated history.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✓  Employee tracks — </a:t>
            </a:r>
            <a:r>
              <a:rPr sz="1000">
                <a:solidFill>
                  <a:srgbClr val="C2CCE8"/>
                </a:solidFill>
                <a:latin typeface="Calibri"/>
              </a:rPr>
              <a:t>performance via line chart + detailed table (Swing + JFreeChart).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✓  Goals unified — </a:t>
            </a:r>
            <a:r>
              <a:rPr sz="1000">
                <a:solidFill>
                  <a:srgbClr val="C2CCE8"/>
                </a:solidFill>
                <a:latin typeface="Calibri"/>
              </a:rPr>
              <a:t>— manager-assigned &amp; personal goals with status &amp; deadline validation.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✓  Feedback loop — </a:t>
            </a:r>
            <a:r>
              <a:rPr sz="1000">
                <a:solidFill>
                  <a:srgbClr val="C2CCE8"/>
                </a:solidFill>
                <a:latin typeface="Calibri"/>
              </a:rPr>
              <a:t>— rating 1-5 + comments, visible to employee instantly.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✓  Reports exported — </a:t>
            </a:r>
            <a:r>
              <a:rPr sz="1000">
                <a:solidFill>
                  <a:srgbClr val="C2CCE8"/>
                </a:solidFill>
                <a:latin typeface="Calibri"/>
              </a:rPr>
              <a:t>to CSV via File I/O; team averages computed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02  —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Modular 4-layer design — built for the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51760" cy="2194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UI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>
                <a:solidFill>
                  <a:srgbClr val="FFFFFF"/>
                </a:solidFill>
                <a:latin typeface="Calibri"/>
              </a:defRPr>
            </a:pPr>
            <a:r>
              <a:t>Swing • LoginFrame</a:t>
            </a:r>
            <a:br/>
            <a:r>
              <a:t>ManagerDashboard (5 tabs)</a:t>
            </a:r>
            <a:br/>
            <a:r>
              <a:t>EmployeeDashboard (4 tabs)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C7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554480"/>
            <a:ext cx="2651760" cy="21945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57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>
                <a:solidFill>
                  <a:srgbClr val="FFFFFF"/>
                </a:solidFill>
                <a:latin typeface="Calibri"/>
              </a:defRPr>
            </a:pPr>
            <a:r>
              <a:t>ReportService</a:t>
            </a:r>
            <a:br/>
            <a:r>
              <a:t>Auth logic</a:t>
            </a:r>
            <a:br/>
            <a: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C7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2651760" cy="2194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>
                <a:solidFill>
                  <a:srgbClr val="FFFFFF"/>
                </a:solidFill>
                <a:latin typeface="Calibri"/>
              </a:defRPr>
            </a:pPr>
            <a:r>
              <a:t>DAO&lt;T&gt; Generic</a:t>
            </a:r>
            <a:br/>
            <a:r>
              <a:t>User/Eval/Goal/Feedback</a:t>
            </a:r>
            <a:br/>
            <a:r>
              <a:t>TeamDAO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C7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554480"/>
            <a:ext cx="2651760" cy="21945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+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057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>
                <a:solidFill>
                  <a:srgbClr val="FFFFFF"/>
                </a:solidFill>
                <a:latin typeface="Calibri"/>
              </a:defRPr>
            </a:pPr>
            <a:r>
              <a:t>User→Manager/Employee</a:t>
            </a:r>
            <a:br/>
            <a:r>
              <a:t>Evaluation, Goal, Feedback</a:t>
            </a:r>
            <a:br/>
            <a:r>
              <a:t>MySQL 8.4 • JDBC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566928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User Roles &amp; 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5A6C7D"/>
                </a:solidFill>
                <a:latin typeface="Calibri"/>
              </a:defRPr>
            </a:pPr>
            <a:r>
              <a:t>•  Manager:  Evaluate → Set Goals → Give Feedback → View Reports → Manage Team</a:t>
            </a:r>
          </a:p>
          <a:p>
            <a:pPr>
              <a:spcAft>
                <a:spcPts val="400"/>
              </a:spcAft>
              <a:defRPr sz="900">
                <a:solidFill>
                  <a:srgbClr val="5A6C7D"/>
                </a:solidFill>
                <a:latin typeface="Calibri"/>
              </a:defRPr>
            </a:pPr>
            <a:r>
              <a:t>•  Employee:  Track Progress → View Feedback → Set Personal Goals → Export Reports</a:t>
            </a:r>
          </a:p>
          <a:p>
            <a:pPr>
              <a:spcAft>
                <a:spcPts val="400"/>
              </a:spcAft>
              <a:defRPr sz="900">
                <a:solidFill>
                  <a:srgbClr val="5A6C7D"/>
                </a:solidFill>
                <a:latin typeface="Calibri"/>
              </a:defRPr>
            </a:pPr>
            <a:r>
              <a:t>•  Auth:  Role-based login (UserDAO.authenticate) with demo fallback for offline 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11480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Build &amp;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177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1A1A2E"/>
                </a:solidFill>
                <a:latin typeface="Consolas"/>
              </a:defRPr>
            </a:pPr>
            <a:r>
              <a:t>javac -cp "lib/*" -d bin -sourcepath src src/App.java</a:t>
            </a:r>
          </a:p>
          <a:p>
            <a:pPr>
              <a:spcAft>
                <a:spcPts val="200"/>
              </a:spcAft>
              <a:defRPr sz="800">
                <a:solidFill>
                  <a:srgbClr val="5A6C7D"/>
                </a:solidFill>
                <a:latin typeface="Consolas"/>
              </a:defRPr>
            </a:pPr>
            <a:r>
              <a:t>java  -cp "bin;lib/*" App   // Login window opens</a:t>
            </a:r>
          </a:p>
          <a:p>
            <a:pPr>
              <a:spcAft>
                <a:spcPts val="200"/>
              </a:spcAft>
              <a:defRPr sz="800">
                <a:solidFill>
                  <a:srgbClr val="1A1A2E"/>
                </a:solidFill>
                <a:latin typeface="Consolas"/>
              </a:defRPr>
            </a:pPr>
            <a:r>
              <a:t>MySQL:  C:\MySQLData on port 3306 (start-mysql.bat)</a:t>
            </a:r>
          </a:p>
          <a:p>
            <a:pPr>
              <a:spcAft>
                <a:spcPts val="200"/>
              </a:spcAft>
              <a:defRPr sz="800">
                <a:solidFill>
                  <a:srgbClr val="1A1A2E"/>
                </a:solidFill>
                <a:latin typeface="Consolas"/>
              </a:defRPr>
            </a:pPr>
            <a:r>
              <a:t>Demo: manager@company.com / manager123  •  priya@company.com / emp123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03  — 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ER design — 6 tables, real 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468880" cy="1691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904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B40"/>
                </a:solidFill>
                <a:latin typeface="Consolas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FFFFFF"/>
                </a:solidFill>
                <a:latin typeface="Consolas"/>
              </a:defRPr>
            </a:pPr>
            <a:r>
              <a:t>user_id PK</a:t>
            </a:r>
            <a:br/>
            <a:r>
              <a:t>name, email UNIQUE</a:t>
            </a:r>
            <a:br/>
            <a:r>
              <a:t>password, role ENUM</a:t>
            </a:r>
            <a:br/>
            <a:r>
              <a:t>department, designation</a:t>
            </a:r>
            <a:br/>
            <a:r>
              <a:t>manager_id FK →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417320"/>
            <a:ext cx="24688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4904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62FF"/>
                </a:solidFill>
                <a:latin typeface="Consolas"/>
              </a:defRPr>
            </a:pPr>
            <a:r>
              <a:t>evaluations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37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5A6C7D"/>
                </a:solidFill>
                <a:latin typeface="Consolas"/>
              </a:defRPr>
            </a:pPr>
            <a:r>
              <a:t>eval_id PK</a:t>
            </a:r>
            <a:br/>
            <a:r>
              <a:t>employee_id FK</a:t>
            </a:r>
            <a:br/>
            <a:r>
              <a:t>manager_id FK</a:t>
            </a:r>
            <a:br/>
            <a:r>
              <a:t>communication..teamwork 1-5</a:t>
            </a:r>
            <a:br/>
            <a:r>
              <a:t>overall_score</a:t>
            </a:r>
            <a:br/>
            <a:r>
              <a:t>eval_date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17320"/>
            <a:ext cx="24688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4904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62FF"/>
                </a:solidFill>
                <a:latin typeface="Consolas"/>
              </a:defRPr>
            </a:pPr>
            <a:r>
              <a:t>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37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5A6C7D"/>
                </a:solidFill>
                <a:latin typeface="Consolas"/>
              </a:defRPr>
            </a:pPr>
            <a:r>
              <a:t>goal_id PK</a:t>
            </a:r>
            <a:br/>
            <a:r>
              <a:t>title, description</a:t>
            </a:r>
            <a:br/>
            <a:r>
              <a:t>assigned_to/by FK</a:t>
            </a:r>
            <a:br/>
            <a:r>
              <a:t>target_date, status</a:t>
            </a:r>
            <a:br/>
            <a:r>
              <a:t>is_personal BOOL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417320"/>
            <a:ext cx="24688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904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62FF"/>
                </a:solidFill>
                <a:latin typeface="Consolas"/>
              </a:defRPr>
            </a:pPr>
            <a: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5A6C7D"/>
                </a:solidFill>
                <a:latin typeface="Consolas"/>
              </a:defRPr>
            </a:pPr>
            <a:r>
              <a:t>feedback_id PK</a:t>
            </a:r>
            <a:br/>
            <a:r>
              <a:t>employee_id FK</a:t>
            </a:r>
            <a:br/>
            <a:r>
              <a:t>manager_id FK</a:t>
            </a:r>
            <a:br/>
            <a:r>
              <a:t>eval_id FK nullable</a:t>
            </a:r>
            <a:br/>
            <a:r>
              <a:t>rating 1-5</a:t>
            </a:r>
            <a:br/>
            <a:r>
              <a:t>given_on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4206240"/>
            <a:ext cx="24688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2793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62FF"/>
                </a:solidFill>
                <a:latin typeface="Consolas"/>
              </a:defRPr>
            </a:pPr>
            <a:r>
              <a:t>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5262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5A6C7D"/>
                </a:solidFill>
                <a:latin typeface="Consolas"/>
              </a:defRPr>
            </a:pPr>
            <a:r>
              <a:t>team_id PK</a:t>
            </a:r>
            <a:br/>
            <a:r>
              <a:t>team_name</a:t>
            </a:r>
            <a:br/>
            <a:r>
              <a:t>manager_id FK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206240"/>
            <a:ext cx="24688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42793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962FF"/>
                </a:solidFill>
                <a:latin typeface="Consolas"/>
              </a:defRPr>
            </a:pPr>
            <a:r>
              <a:t>team_members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5262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defRPr sz="700">
                <a:solidFill>
                  <a:srgbClr val="5A6C7D"/>
                </a:solidFill>
                <a:latin typeface="Consolas"/>
              </a:defRPr>
            </a:pPr>
            <a:r>
              <a:t>team_id FK, employee_id FK</a:t>
            </a:r>
            <a:br/>
            <a:r>
              <a:t>role</a:t>
            </a:r>
            <a:br/>
            <a:r>
              <a:t>PK(team_id, employee_id)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C7D"/>
                </a:solidFill>
                <a:latin typeface="Consolas"/>
              </a:defRPr>
            </a:pPr>
            <a:r>
              <a:t>users 1 ── N  evaluations    •    users 1 ── N  goals    •    users 1 ── N  feedback    •    teams M ── N  users (via team_members)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7498079" cy="54864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Calibri"/>
              </a:defRPr>
            </a:pPr>
            <a:r>
              <a:t>Schema: db/schema.sql  •  Seed: db/seed_data.sql  •  4 users (1 manager + 3 employees), 3 evaluations, 3 goals, 2 feedback  •  FOREIGN KEYs + CHECK(1-5)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989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2962FF"/>
                </a:solidFill>
                <a:latin typeface="Calibri"/>
              </a:defRPr>
            </a:pPr>
            <a:r>
              <a:t>MySQL 8.4  •  C:\MySQLData  •  Port 3306  •  mysql-connector-j 8.0.33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04  — 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Clean, role-based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LOGIN  —  Performetrics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>
                <a:solidFill>
                  <a:srgbClr val="1A1A2E"/>
                </a:solidFill>
                <a:latin typeface="Calibri"/>
              </a:defRPr>
            </a:pPr>
            <a:r>
              <a:t>Email:    manager@company.com</a:t>
            </a:r>
          </a:p>
          <a:p>
            <a:pPr>
              <a:spcAft>
                <a:spcPts val="300"/>
              </a:spcAft>
              <a:defRPr sz="800">
                <a:solidFill>
                  <a:srgbClr val="1A1A2E"/>
                </a:solidFill>
                <a:latin typeface="Calibri"/>
              </a:defRPr>
            </a:pPr>
            <a:r>
              <a:t>Password: •••••••••</a:t>
            </a:r>
          </a:p>
          <a:p>
            <a:pPr>
              <a:spcAft>
                <a:spcPts val="300"/>
              </a:spcAft>
              <a:defRPr sz="800">
                <a:solidFill>
                  <a:srgbClr val="1A1A2E"/>
                </a:solidFill>
                <a:latin typeface="Calibri"/>
              </a:defRPr>
            </a:pPr>
            <a:r>
              <a:t>Role:     [ MANAGER  ▾ ]</a:t>
            </a:r>
          </a:p>
          <a:p>
            <a:pPr>
              <a:spcAft>
                <a:spcPts val="300"/>
              </a:spcAft>
              <a:defRPr sz="800">
                <a:solidFill>
                  <a:srgbClr val="1A1A2E"/>
                </a:solidFill>
                <a:latin typeface="Calibri"/>
              </a:defRPr>
            </a:pPr>
          </a:p>
          <a:p>
            <a:pPr algn="ctr">
              <a:spcAft>
                <a:spcPts val="300"/>
              </a:spcAft>
              <a:defRPr sz="800" b="1">
                <a:solidFill>
                  <a:srgbClr val="2962FF"/>
                </a:solidFill>
                <a:latin typeface="Calibri"/>
              </a:defRPr>
            </a:pPr>
            <a:r>
              <a:t>[      Login      ]</a:t>
            </a:r>
          </a:p>
          <a:p>
            <a:pPr>
              <a:spcAft>
                <a:spcPts val="300"/>
              </a:spcAft>
              <a:defRPr sz="8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800">
                <a:solidFill>
                  <a:srgbClr val="5A6C7D"/>
                </a:solidFill>
                <a:latin typeface="Calibri"/>
              </a:defRPr>
            </a:pPr>
            <a:r>
              <a:t>Demo: manager@company.com / manager123</a:t>
            </a:r>
          </a:p>
          <a:p>
            <a:pPr>
              <a:spcAft>
                <a:spcPts val="300"/>
              </a:spcAft>
              <a:defRPr sz="800">
                <a:solidFill>
                  <a:srgbClr val="1A1A2E"/>
                </a:solidFill>
                <a:latin typeface="Calibri"/>
              </a:defRPr>
            </a:pPr>
            <a:r>
              <a:t>         priya@company.com / emp123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6576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813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Manager Dashboard  —  Rajesh Kumar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74519"/>
            <a:ext cx="658368" cy="2560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01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874519"/>
            <a:ext cx="658368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901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874519"/>
            <a:ext cx="658368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901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874519"/>
            <a:ext cx="658368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01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874519"/>
            <a:ext cx="658368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1901952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240280"/>
            <a:ext cx="3291840" cy="29260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31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 b="1">
                <a:solidFill>
                  <a:srgbClr val="1B2A4A"/>
                </a:solidFill>
                <a:latin typeface="Consolas"/>
              </a:defRPr>
            </a:pPr>
            <a:r>
              <a:t>Eval | Employee        | Score | Date</a:t>
            </a:r>
          </a:p>
          <a:p>
            <a:pPr>
              <a:spcAft>
                <a:spcPts val="200"/>
              </a:spcAft>
              <a:defRPr sz="700">
                <a:solidFill>
                  <a:srgbClr val="5A6C7D"/>
                </a:solidFill>
                <a:latin typeface="Consolas"/>
              </a:defRPr>
            </a:pPr>
            <a:r>
              <a:t>  1    | Priya Sharma  | 4.50  | 2026-10-08</a:t>
            </a:r>
          </a:p>
          <a:p>
            <a:pPr>
              <a:spcAft>
                <a:spcPts val="200"/>
              </a:spcAft>
              <a:defRPr sz="700">
                <a:solidFill>
                  <a:srgbClr val="5A6C7D"/>
                </a:solidFill>
                <a:latin typeface="Consolas"/>
              </a:defRPr>
            </a:pPr>
            <a:r>
              <a:t>  2    | Amit Patel     | 4.25  | 2026-10-08</a:t>
            </a:r>
          </a:p>
          <a:p>
            <a:pPr>
              <a:spcAft>
                <a:spcPts val="200"/>
              </a:spcAft>
              <a:defRPr sz="700">
                <a:solidFill>
                  <a:srgbClr val="5A6C7D"/>
                </a:solidFill>
                <a:latin typeface="Consolas"/>
              </a:defRPr>
            </a:pPr>
            <a:r>
              <a:t>  3    | Sneha Gupta  | 4.50  | 2026-10-08</a:t>
            </a:r>
          </a:p>
          <a:p>
            <a:pPr>
              <a:spcAft>
                <a:spcPts val="200"/>
              </a:spcAft>
              <a:defRPr sz="700">
                <a:solidFill>
                  <a:srgbClr val="5A6C7D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700">
                <a:solidFill>
                  <a:srgbClr val="5A6C7D"/>
                </a:solidFill>
                <a:latin typeface="Consolas"/>
              </a:defRPr>
            </a:pPr>
            <a:r>
              <a:t>[ Add ]  [ Refresh ]  [ Delete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52044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3520440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48132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Employee Dashboard  —  Priya Sharma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874519"/>
            <a:ext cx="713232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9019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62288" y="1874519"/>
            <a:ext cx="713232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19019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12096" y="1874519"/>
            <a:ext cx="713232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2096" y="19019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1904" y="1874519"/>
            <a:ext cx="713232" cy="256032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1904" y="190195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5A6C7D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240280"/>
            <a:ext cx="315468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37744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E7D32"/>
                </a:solidFill>
                <a:latin typeface="Calibri"/>
              </a:defRPr>
            </a:pPr>
            <a:r>
              <a:t>Avg: 4.50 / 5.0  •  Your Score Trend (Line Chart)</a:t>
            </a:r>
          </a:p>
          <a:p>
            <a:pPr algn="ctr">
              <a:defRPr sz="700">
                <a:solidFill>
                  <a:srgbClr val="5A6C7D"/>
                </a:solidFill>
                <a:latin typeface="Calibri"/>
              </a:defRPr>
            </a:pPr>
            <a:r>
              <a:t>2026-10-08: 4.5  →  (next eval will extend trend)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5204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600" b="1">
                <a:solidFill>
                  <a:srgbClr val="2962FF"/>
                </a:solidFill>
                <a:latin typeface="Consolas"/>
              </a:defRPr>
            </a:pPr>
            <a:r>
              <a:t>[ Set Personal Goal ]  [ Mark Complete ]</a:t>
            </a:r>
          </a:p>
          <a:p>
            <a:pPr>
              <a:spcAft>
                <a:spcPts val="200"/>
              </a:spcAft>
              <a:defRPr sz="600">
                <a:solidFill>
                  <a:srgbClr val="5A6C7D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600">
                <a:solidFill>
                  <a:srgbClr val="5A6C7D"/>
                </a:solidFill>
                <a:latin typeface="Consolas"/>
              </a:defRPr>
            </a:pPr>
            <a:r>
              <a:t>Goal            | Target     | Status</a:t>
            </a:r>
          </a:p>
          <a:p>
            <a:pPr>
              <a:spcAft>
                <a:spcPts val="200"/>
              </a:spcAft>
              <a:defRPr sz="600">
                <a:solidFill>
                  <a:srgbClr val="5A6C7D"/>
                </a:solidFill>
                <a:latin typeface="Consolas"/>
              </a:defRPr>
            </a:pPr>
            <a:r>
              <a:t>Learn Spring ...| 2026-12-01 | Pending</a:t>
            </a:r>
          </a:p>
          <a:p>
            <a:pPr>
              <a:spcAft>
                <a:spcPts val="200"/>
              </a:spcAft>
              <a:defRPr sz="600">
                <a:solidFill>
                  <a:srgbClr val="5A6C7D"/>
                </a:solidFill>
                <a:latin typeface="Consolas"/>
              </a:defRPr>
            </a:pPr>
            <a:r>
              <a:t>Complete Alpha | 2026-11-15 | In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05  —  Core Java Concepts Mapping (Rubric)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Every rubric item is traceable to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05840" cy="20116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10 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OOP — Inheritance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User (abstract) → Manager, Employee</a:t>
            </a:r>
            <a:br/>
            <a:r>
              <a:t>Evaluation.calculateScore() polymorphism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model/User.java, model/Manager.java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4173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8728" y="1554480"/>
            <a:ext cx="1005840" cy="2011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828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Interfaces &amp; Abstraction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148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DAO&lt;T&gt; generic interface, DAO impls</a:t>
            </a:r>
            <a:br/>
            <a:r>
              <a:t>Polymorphic auth via UserDAO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246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dao/DAO.java, dao/UserDAO.java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14173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83096" y="1554480"/>
            <a:ext cx="1005840" cy="20116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6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1828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Collections &amp; Generics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148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List&lt;Evaluation&gt;, Map&lt;Integer, List&gt;</a:t>
            </a:r>
            <a:br/>
            <a:r>
              <a:t>ArrayList, HashMap, DAO&lt;T&gt;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246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dao/EvaluationDAO.getGroupedByEmployee()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0304" y="14173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27464" y="1554480"/>
            <a:ext cx="1005840" cy="20116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4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1828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2148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InvalidRatingException (1-5)</a:t>
            </a:r>
            <a:br/>
            <a:r>
              <a:t>GoalDeadlineException (future date)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3246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exception/, util/Validator.java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069080"/>
            <a:ext cx="1005840" cy="201168"/>
          </a:xfrm>
          <a:prstGeom prst="rect">
            <a:avLst/>
          </a:prstGeom>
          <a:solidFill>
            <a:srgbClr val="EA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0782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A6C7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File I/O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663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ReportExporter CSV export</a:t>
            </a:r>
            <a:br/>
            <a:r>
              <a:t>FileLogger synchronized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760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util/ReportExporter.java, util/FileLogger.java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39319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38728" y="4069080"/>
            <a:ext cx="1005840" cy="20116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40782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 marks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4343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Multithreading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4663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SwingWorker for DB loads (non-blocking UI)</a:t>
            </a:r>
            <a:br/>
            <a:r>
              <a:t>synchronized Singleton + FileLogger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8728" y="5760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dao/DatabaseConnection.java, ui/*Dashboard.java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39319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83096" y="4069080"/>
            <a:ext cx="1005840" cy="20116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3096" y="40782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marks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3096" y="4343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JDBC — Classes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4663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User/Eval/Goal/Feedback/TeamDAO</a:t>
            </a:r>
            <a:br/>
            <a:r>
              <a:t>PreparedStatement + try-with-resources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5760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dao/*DAO.java (5 DAOs)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0304" y="3931920"/>
            <a:ext cx="278892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27464" y="4069080"/>
            <a:ext cx="1005840" cy="201168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27464" y="40782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 + 3 marks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7464" y="4343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DB Connectivity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7464" y="46634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5A6C7D"/>
                </a:solidFill>
                <a:latin typeface="Calibri"/>
              </a:defRPr>
            </a:pPr>
            <a:r>
              <a:t>DatabaseConnection singleton</a:t>
            </a:r>
            <a:br/>
            <a:r>
              <a:t>mysql-connector-j 8.0.33 + db.properties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27464" y="57607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962FF"/>
                </a:solidFill>
                <a:latin typeface="Consolas"/>
              </a:defRPr>
            </a:pPr>
            <a:r>
              <a:t>dao/DatabaseConnection.java, lib/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06  —  Database Connectivity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Live MySQL — verified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DatabaseConnection.java  —  Synchronized Singleton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66928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55648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public class DatabaseConnection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private static DatabaseConnection instance;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public static synchronized DatabaseConnection getInstance()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  if (instance == null) instance = new DatabaseConnection();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  return instance;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public synchronized Connection getConnection() throws SQLException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  if (connection == null || connection.isClosed())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    connection = DriverManager.getConnection(url, user, password);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  return connection;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DAO Example — PreparedStatement + try-with-resources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566928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590288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String sql = "INSERT INTO evaluations (...) VALUES (?,?,?,?,?,?,?,?)";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try (Connection c = getConnection();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   PreparedStatement ps = c.prepareStatement(sql))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ps.setInt(1, e.getEmployeeId());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ps.setDouble(7, e.calculateScore()); // polymorphism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  ps.executeUpdate();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492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49240" cy="365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447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  <a:latin typeface="Calibri"/>
              </a:defRPr>
            </a:pPr>
            <a:r>
              <a:t>✓  LIVE PROOF  —  MySQL 8.4 on localhost:3306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983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B2A4A"/>
                </a:solidFill>
                <a:latin typeface="Calibri"/>
              </a:defRPr>
            </a:pPr>
            <a:r>
              <a:t>JDBC Test Output: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Consolas"/>
              </a:defRPr>
            </a:pPr>
            <a:r>
              <a:t>Database connected: jdbc:mysql://localhost:3306/employee_performance_db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Consolas"/>
              </a:defRPr>
            </a:pPr>
            <a:r>
              <a:t>Connection successful: true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Consolas"/>
              </a:defRPr>
            </a:pPr>
            <a:r>
              <a:t>Manager auth: PASS - Rajesh Kumar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Consolas"/>
              </a:defRPr>
            </a:pPr>
            <a:r>
              <a:t>Employee auth: PASS - Priya Sharma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B2A4A"/>
                </a:solidFill>
                <a:latin typeface="Calibri"/>
              </a:defRPr>
            </a:pPr>
            <a:r>
              <a:t>MySQL Verification (mysql.exe):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Consolas"/>
              </a:defRPr>
            </a:pPr>
            <a:r>
              <a:t>users: 4 rows (1 manager + 3 employees)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Consolas"/>
              </a:defRPr>
            </a:pPr>
            <a:r>
              <a:t>evaluations: 3 rows  •  goals: 3  •  feedback: 2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Consolas"/>
              </a:defRPr>
            </a:pPr>
            <a:r>
              <a:t>SHOW TABLES: users, evaluations, goals, feedback, teams, team_members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Consolas"/>
              </a:defRPr>
            </a:pPr>
            <a:r>
              <a:t>Connection pool: Singleton, synchronized, try-with-resources</a:t>
            </a:r>
          </a:p>
          <a:p>
            <a:pPr>
              <a:spcAft>
                <a:spcPts val="200"/>
              </a:spcAft>
              <a:defRPr sz="800" b="0">
                <a:solidFill>
                  <a:srgbClr val="1A1A2E"/>
                </a:solidFill>
                <a:latin typeface="Consolas"/>
              </a:defRPr>
            </a:pPr>
            <a:r>
              <a:t>Driver: mysql-connector-j-8.0.33.jar in lib/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07  —  Features Implemented (Review 1 Scope)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What works today — wire it, then polish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9144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447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✓ 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1732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Project structure  —  src/model, dao, service, ui, util, exception, db  •  25+ classes, 43 compiled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56232"/>
            <a:ext cx="9144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✓ 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562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Database design  —  schema.sql + seed_data.sql  •  MySQL 8.4 running at C:\MySQLData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95144"/>
            <a:ext cx="9144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2257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✓ 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9514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DB connectivity  —  DatabaseConnection singleton + 5 DAOs  •  JDBC verified (auth PASS)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34056"/>
            <a:ext cx="9144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6148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✓ 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3405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UI skeleton  —  LoginFrame + Manager (5 tabs) + Employee (4 tabs)  •  Swing, responsive layout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9144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✓ 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7296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Real DB wiring  —  SwingWorker loads + dialogs: Add Evaluation / Goal / Feedback  •  Validation + FileLogger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914400" cy="2926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93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7D32"/>
                </a:solidFill>
                <a:latin typeface="Calibri"/>
              </a:defRPr>
            </a:pPr>
            <a:r>
              <a:t>✓ 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61188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File I/O  —  ReportExporter CSV export  •  app.log via synchronized FileWriter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50792"/>
            <a:ext cx="914400" cy="2926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7822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5100"/>
                </a:solidFill>
                <a:latin typeface="Calibri"/>
              </a:defRPr>
            </a:pPr>
            <a:r>
              <a:t>◐ 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507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Charts polish  —  JFreeChart integration for graphical reports (placeholder ready)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914400" cy="2926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171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65100"/>
                </a:solidFill>
                <a:latin typeface="Calibri"/>
              </a:defRPr>
            </a:pPr>
            <a:r>
              <a:t>◐ 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48970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Presentation &amp; GitHub  —  This deck + public repo with README before Oct 10 deadline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129284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ACC"/>
                </a:solidFill>
                <a:latin typeface="Calibri"/>
              </a:defRPr>
            </a:pPr>
            <a:r>
              <a:t>END-TO-END DEMO FLOW  (for the review)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Run App → Login (manager@company.com) → Manager adds Evaluation for Emp #2 → DB INSERT → Employee logs in (priya@company.com) → Tracking tab shows new score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62FF"/>
                </a:solidFill>
                <a:latin typeface="Calibri"/>
              </a:defRPr>
            </a:pPr>
            <a:r>
              <a:t>08  —  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Clean, modular, review-ready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Modular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5A6C7D"/>
                </a:solidFill>
                <a:latin typeface="Calibri"/>
              </a:defRPr>
            </a:pPr>
            <a:r>
              <a:t>model / dao / service / ui / util / exception</a:t>
            </a:r>
            <a:br/>
            <a:r>
              <a:t>Each layer has a single responsibility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Naming &amp;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5A6C7D"/>
                </a:solidFill>
                <a:latin typeface="Calibri"/>
              </a:defRPr>
            </a:pPr>
            <a:r>
              <a:t>User → Manager/Employee hierarchy</a:t>
            </a:r>
            <a:br/>
            <a:r>
              <a:t>DAO&lt;T&gt; generic, descriptive method names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5A6C7D"/>
                </a:solidFill>
                <a:latin typeface="Calibri"/>
              </a:defRPr>
            </a:pPr>
            <a:r>
              <a:t>Custom exceptions + Validator</a:t>
            </a:r>
            <a:br/>
            <a:r>
              <a:t>try-with-resources in all DAOs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Comments &amp;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5A6C7D"/>
                </a:solidFill>
                <a:latin typeface="Calibri"/>
              </a:defRPr>
            </a:pPr>
            <a:r>
              <a:t>Javadoc on key classes</a:t>
            </a:r>
            <a:br/>
            <a:r>
              <a:t>README with setup, run &amp; demo creds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93192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69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5A6C7D"/>
                </a:solidFill>
                <a:latin typeface="Calibri"/>
              </a:defRPr>
            </a:pPr>
            <a:r>
              <a:t>Git repo with .gitignore (bin/, *.log ignored)</a:t>
            </a:r>
            <a:br/>
            <a:r>
              <a:t>Commit: Review 1 structure + wiring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93192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A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069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No Hardcoding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5A6C7D"/>
                </a:solidFill>
                <a:latin typeface="Calibri"/>
              </a:defRPr>
            </a:pPr>
            <a:r>
              <a:t>db.properties for URL/user/pass</a:t>
            </a:r>
            <a:br/>
            <a:r>
              <a:t>Fallback demo auth when DB offline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ACC"/>
                </a:solidFill>
                <a:latin typeface="Calibri"/>
              </a:defRPr>
            </a:pPr>
            <a:r>
              <a:t>09  —  Future Work (Post Review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What's next before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→  Charts  —  </a:t>
            </a:r>
            <a:r>
              <a:rPr sz="1100">
                <a:solidFill>
                  <a:srgbClr val="C2CCE8"/>
                </a:solidFill>
                <a:latin typeface="Calibri"/>
              </a:rPr>
              <a:t>JFreeChart bar/pie/line for Performance Reports (both dashboards)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→  Team Management  —  </a:t>
            </a:r>
            <a:r>
              <a:rPr sz="1100">
                <a:solidFill>
                  <a:srgbClr val="C2CCE8"/>
                </a:solidFill>
                <a:latin typeface="Calibri"/>
              </a:rPr>
              <a:t>Add Member / Assign Role dialogs writing to team_members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→  Search &amp; Filter  —  </a:t>
            </a:r>
            <a:r>
              <a:rPr sz="1100">
                <a:solidFill>
                  <a:srgbClr val="C2CCE8"/>
                </a:solidFill>
                <a:latin typeface="Calibri"/>
              </a:rPr>
              <a:t>Filter evaluations by date/employee, search goals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→  Security  —  </a:t>
            </a:r>
            <a:r>
              <a:rPr sz="1100">
                <a:solidFill>
                  <a:srgbClr val="C2CCE8"/>
                </a:solidFill>
                <a:latin typeface="Calibri"/>
              </a:rPr>
              <a:t>Password hashing (BCrypt), session handling, input sanitization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→  Testing  —  </a:t>
            </a:r>
            <a:r>
              <a:rPr sz="1100">
                <a:solidFill>
                  <a:srgbClr val="C2CCE8"/>
                </a:solidFill>
                <a:latin typeface="Calibri"/>
              </a:rPr>
              <a:t>JUnit for DAOs + Validator, edge cases for ratings &amp; dates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→  Polish  —  </a:t>
            </a:r>
            <a:r>
              <a:rPr sz="1100">
                <a:solidFill>
                  <a:srgbClr val="C2CCE8"/>
                </a:solidFill>
                <a:latin typeface="Calibri"/>
              </a:rPr>
              <a:t>FlatLaf theme, responsive resizing, keyboard shortcuts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45720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62F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96012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D32"/>
                </a:solidFill>
                <a:latin typeface="Calibri"/>
              </a:rPr>
              <a:t>✓ Oct 8  —  </a:t>
            </a:r>
            <a:r>
              <a:rPr sz="900">
                <a:solidFill>
                  <a:srgbClr val="5A6C7D"/>
                </a:solidFill>
                <a:latin typeface="Calibri"/>
              </a:rPr>
              <a:t>Structure + DB design + JDBC (DONE)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1A1A2E"/>
                </a:solidFill>
                <a:latin typeface="Calibri"/>
              </a:rPr>
              <a:t>○ Oct 9  —  </a:t>
            </a:r>
            <a:r>
              <a:rPr sz="900">
                <a:solidFill>
                  <a:srgbClr val="5A6C7D"/>
                </a:solidFill>
                <a:latin typeface="Calibri"/>
              </a:rPr>
              <a:t>UI wiring + dialogs + validation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1A1A2E"/>
                </a:solidFill>
                <a:latin typeface="Calibri"/>
              </a:rPr>
              <a:t>○ Oct 10  —  </a:t>
            </a:r>
            <a:r>
              <a:rPr sz="900">
                <a:solidFill>
                  <a:srgbClr val="5A6C7D"/>
                </a:solidFill>
                <a:latin typeface="Calibri"/>
              </a:rPr>
              <a:t>Review 1: Presentation + GitHub push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1A1A2E"/>
                </a:solidFill>
                <a:latin typeface="Calibri"/>
              </a:rPr>
              <a:t>○ Oct 11-15  —  </a:t>
            </a:r>
            <a:r>
              <a:rPr sz="900">
                <a:solidFill>
                  <a:srgbClr val="5A6C7D"/>
                </a:solidFill>
                <a:latin typeface="Calibri"/>
              </a:rPr>
              <a:t>Charts + Team Mgmt + Tests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1A1A2E"/>
                </a:solidFill>
                <a:latin typeface="Calibri"/>
              </a:rPr>
              <a:t>○ Final  —  </a:t>
            </a:r>
            <a:r>
              <a:rPr sz="900">
                <a:solidFill>
                  <a:srgbClr val="5A6C7D"/>
                </a:solidFill>
                <a:latin typeface="Calibri"/>
              </a:rPr>
              <a:t>Polish + Deployment + Demo video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4572000"/>
            <a:ext cx="4114800" cy="15544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4754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120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Questions &amp; Feedback Welcome</a:t>
            </a:r>
            <a:br/>
            <a:r>
              <a:t>GitHub: (push to public repo before deadline)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7E9E"/>
                </a:solidFill>
                <a:latin typeface="Calibri"/>
              </a:defRPr>
            </a:pPr>
            <a:r>
              <a:t>Performetrics  •  GUVI HCL Hackathon  •  Review 1  •  Harshit Singh &amp; Team  •  hackathon.guvi.in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